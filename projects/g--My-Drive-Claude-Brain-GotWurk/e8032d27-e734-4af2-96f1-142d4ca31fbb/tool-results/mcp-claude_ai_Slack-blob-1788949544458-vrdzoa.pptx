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fb280b999e42a4" /><Relationship Type="http://schemas.openxmlformats.org/officeDocument/2006/relationships/extended-properties" Target="/docProps/app.xml" Id="R7c3b2f6cba2649aa" /><Relationship Type="http://schemas.openxmlformats.org/officeDocument/2006/relationships/officeDocument" Target="/ppt/presentation.xml" Id="R3f43b6b94b7640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b5837ffd7843d7"/>
  </p:sldMasterIdLst>
  <p:notesMasterIdLst>
    <p:notesMasterId xmlns:r="http://schemas.openxmlformats.org/officeDocument/2006/relationships" r:id="Rbe0fe249713b493f"/>
  </p:notesMasterIdLst>
  <p:sldIdLst>
    <p:sldId xmlns:r="http://schemas.openxmlformats.org/officeDocument/2006/relationships" id="256" r:id="R1826a7a5b39848ce"/>
    <p:sldId xmlns:r="http://schemas.openxmlformats.org/officeDocument/2006/relationships" id="257" r:id="R6cd4171ca8904d2c"/>
    <p:sldId xmlns:r="http://schemas.openxmlformats.org/officeDocument/2006/relationships" id="258" r:id="R0d2c9e6ab89f4c4a"/>
    <p:sldId xmlns:r="http://schemas.openxmlformats.org/officeDocument/2006/relationships" id="259" r:id="R8a72d47feae94fdc"/>
    <p:sldId xmlns:r="http://schemas.openxmlformats.org/officeDocument/2006/relationships" id="260" r:id="R2dca51e6f09b423c"/>
    <p:sldId xmlns:r="http://schemas.openxmlformats.org/officeDocument/2006/relationships" id="261" r:id="Rb1a28859776b437a"/>
    <p:sldId xmlns:r="http://schemas.openxmlformats.org/officeDocument/2006/relationships" id="262" r:id="Rf89f0c6c342b4395"/>
    <p:sldId xmlns:r="http://schemas.openxmlformats.org/officeDocument/2006/relationships" id="263" r:id="Rb30d9910e3bb4239"/>
    <p:sldId xmlns:r="http://schemas.openxmlformats.org/officeDocument/2006/relationships" id="264" r:id="R372387981eb34dbf"/>
    <p:sldId xmlns:r="http://schemas.openxmlformats.org/officeDocument/2006/relationships" id="265" r:id="R3d8d92072c6843e0"/>
    <p:sldId xmlns:r="http://schemas.openxmlformats.org/officeDocument/2006/relationships" id="266" r:id="R9c43b6e4ea4c46a3"/>
    <p:sldId xmlns:r="http://schemas.openxmlformats.org/officeDocument/2006/relationships" id="267" r:id="Rfe92ef6e35c2455a"/>
    <p:sldId xmlns:r="http://schemas.openxmlformats.org/officeDocument/2006/relationships" id="268" r:id="Rf4e2a8d3143747a1"/>
    <p:sldId xmlns:r="http://schemas.openxmlformats.org/officeDocument/2006/relationships" id="269" r:id="Ra68ab4faeb65428b"/>
    <p:sldId xmlns:r="http://schemas.openxmlformats.org/officeDocument/2006/relationships" id="270" r:id="Rd705ca867e4a4d20"/>
    <p:sldId xmlns:r="http://schemas.openxmlformats.org/officeDocument/2006/relationships" id="271" r:id="Rb1bbb46d2a3a4d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7bf3f80ce6434e" /><Relationship Type="http://schemas.openxmlformats.org/officeDocument/2006/relationships/slideMaster" Target="/ppt/slideMasters/slideMaster1.xml" Id="R5fb5837ffd7843d7" /><Relationship Type="http://schemas.openxmlformats.org/officeDocument/2006/relationships/notesMaster" Target="/ppt/notesMasters/notesMaster1.xml" Id="Rbe0fe249713b493f" /><Relationship Type="http://schemas.openxmlformats.org/officeDocument/2006/relationships/presProps" Target="/ppt/presProps.xml" Id="R49188edf95254a4d" /><Relationship Type="http://schemas.openxmlformats.org/officeDocument/2006/relationships/tableStyles" Target="/ppt/tableStyles.xml" Id="Re9c59ae25da84fa2" /><Relationship Type="http://schemas.openxmlformats.org/officeDocument/2006/relationships/slide" Target="/ppt/slides/slide1.xml" Id="R1826a7a5b39848ce" /><Relationship Type="http://schemas.openxmlformats.org/officeDocument/2006/relationships/slide" Target="/ppt/slides/slide2.xml" Id="R6cd4171ca8904d2c" /><Relationship Type="http://schemas.openxmlformats.org/officeDocument/2006/relationships/slide" Target="/ppt/slides/slide3.xml" Id="R0d2c9e6ab89f4c4a" /><Relationship Type="http://schemas.openxmlformats.org/officeDocument/2006/relationships/slide" Target="/ppt/slides/slide4.xml" Id="R8a72d47feae94fdc" /><Relationship Type="http://schemas.openxmlformats.org/officeDocument/2006/relationships/slide" Target="/ppt/slides/slide5.xml" Id="R2dca51e6f09b423c" /><Relationship Type="http://schemas.openxmlformats.org/officeDocument/2006/relationships/slide" Target="/ppt/slides/slide6.xml" Id="Rb1a28859776b437a" /><Relationship Type="http://schemas.openxmlformats.org/officeDocument/2006/relationships/slide" Target="/ppt/slides/slide7.xml" Id="Rf89f0c6c342b4395" /><Relationship Type="http://schemas.openxmlformats.org/officeDocument/2006/relationships/slide" Target="/ppt/slides/slide8.xml" Id="Rb30d9910e3bb4239" /><Relationship Type="http://schemas.openxmlformats.org/officeDocument/2006/relationships/slide" Target="/ppt/slides/slide9.xml" Id="R372387981eb34dbf" /><Relationship Type="http://schemas.openxmlformats.org/officeDocument/2006/relationships/slide" Target="/ppt/slides/slide10.xml" Id="R3d8d92072c6843e0" /><Relationship Type="http://schemas.openxmlformats.org/officeDocument/2006/relationships/slide" Target="/ppt/slides/slide11.xml" Id="R9c43b6e4ea4c46a3" /><Relationship Type="http://schemas.openxmlformats.org/officeDocument/2006/relationships/slide" Target="/ppt/slides/slide12.xml" Id="Rfe92ef6e35c2455a" /><Relationship Type="http://schemas.openxmlformats.org/officeDocument/2006/relationships/slide" Target="/ppt/slides/slide13.xml" Id="Rf4e2a8d3143747a1" /><Relationship Type="http://schemas.openxmlformats.org/officeDocument/2006/relationships/slide" Target="/ppt/slides/slide14.xml" Id="Ra68ab4faeb65428b" /><Relationship Type="http://schemas.openxmlformats.org/officeDocument/2006/relationships/slide" Target="/ppt/slides/slide15.xml" Id="Rd705ca867e4a4d20" /><Relationship Type="http://schemas.openxmlformats.org/officeDocument/2006/relationships/slide" Target="/ppt/slides/slide16.xml" Id="Rb1bbb46d2a3a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0568e2bd87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fa4b3c6c094719" /><Relationship Type="http://schemas.openxmlformats.org/officeDocument/2006/relationships/notesMaster" Target="/ppt/notesMasters/notesMaster1.xml" Id="Rbf5129eabf54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92d45917bb41a7" /><Relationship Type="http://schemas.openxmlformats.org/officeDocument/2006/relationships/notesMaster" Target="/ppt/notesMasters/notesMaster1.xml" Id="Re52ef5e970f343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ad0d4873a142c1" /><Relationship Type="http://schemas.openxmlformats.org/officeDocument/2006/relationships/notesMaster" Target="/ppt/notesMasters/notesMaster1.xml" Id="R379c11031efb49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e4ead978294ff6" /><Relationship Type="http://schemas.openxmlformats.org/officeDocument/2006/relationships/notesMaster" Target="/ppt/notesMasters/notesMaster1.xml" Id="R60a537e016e843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ec44504496493a" /><Relationship Type="http://schemas.openxmlformats.org/officeDocument/2006/relationships/notesMaster" Target="/ppt/notesMasters/notesMaster1.xml" Id="Rb91cd3d2df1944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3d472502144f5f" /><Relationship Type="http://schemas.openxmlformats.org/officeDocument/2006/relationships/notesMaster" Target="/ppt/notesMasters/notesMaster1.xml" Id="R1814292f9c5342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0a514c88e74109" /><Relationship Type="http://schemas.openxmlformats.org/officeDocument/2006/relationships/notesMaster" Target="/ppt/notesMasters/notesMaster1.xml" Id="Rc3c878cac9e143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1eecb4618945e0" /><Relationship Type="http://schemas.openxmlformats.org/officeDocument/2006/relationships/notesMaster" Target="/ppt/notesMasters/notesMaster1.xml" Id="R7429bfb803124a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3e4a58594f475e" /><Relationship Type="http://schemas.openxmlformats.org/officeDocument/2006/relationships/notesMaster" Target="/ppt/notesMasters/notesMaster1.xml" Id="Ra50f06413aa54e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1e1f779544421b" /><Relationship Type="http://schemas.openxmlformats.org/officeDocument/2006/relationships/notesMaster" Target="/ppt/notesMasters/notesMaster1.xml" Id="R4b94c955b6544d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80545fd7064750" /><Relationship Type="http://schemas.openxmlformats.org/officeDocument/2006/relationships/notesMaster" Target="/ppt/notesMasters/notesMaster1.xml" Id="Rb208de8ab71f41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cf8b63d8eb4384" /><Relationship Type="http://schemas.openxmlformats.org/officeDocument/2006/relationships/notesMaster" Target="/ppt/notesMasters/notesMaster1.xml" Id="R752c58d658514c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4a07d9cd2f4016" /><Relationship Type="http://schemas.openxmlformats.org/officeDocument/2006/relationships/notesMaster" Target="/ppt/notesMasters/notesMaster1.xml" Id="R5519f8db7b684c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91d17522064439" /><Relationship Type="http://schemas.openxmlformats.org/officeDocument/2006/relationships/notesMaster" Target="/ppt/notesMasters/notesMaster1.xml" Id="Rb7973c286f9a4f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94f3c6f60d4389" /><Relationship Type="http://schemas.openxmlformats.org/officeDocument/2006/relationships/notesMaster" Target="/ppt/notesMasters/notesMaster1.xml" Id="R4c1496a0b73d4e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57d993a89440ef" /><Relationship Type="http://schemas.openxmlformats.org/officeDocument/2006/relationships/notesMaster" Target="/ppt/notesMasters/notesMaster1.xml" Id="R98d8d73328cf45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urban Western cafe: concrete, warm timber and leather, with restrained Western cues. Concept render generated for this proposal, not an architect’s layout or photo of Ground Gym.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Initial funding R1,091,740.25; founders each R545,820.125. Gap R195,820.125 each. Operating break-even 93.34, rounded up to94; excludes interest, principal and owner remuneration. Recommendation: conditional development, no lease commitment until funding and demand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https://www.absa.co.za/personal/loans/for-myself/personal-loan/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segments and positioning reflect founder brief. No exclusivity, gym partnership or customer conversion is assumed. Validate willingness to pay in intercepts and a pop-up.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45–60m² target range, 50m² base. Allow 22m² seating,14m² service/prep,6m² storage/wash and8m² circulation, subject to design and accessibility checks. Ground Gym adjacency and property are unconfirmed.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https://capewinelands.gov.za/download/application-for-a-certificate-of-acceptability-for-a-food-premises-in-terms-of-regulation-32-of-r-638-of-22-june-2018/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 cup benchmark R4.50 per250ml double wall plus approximate lid cost. Base hot cup/lid5.20. Cold3.50 allowance. No proven advertising return attributed to branded cups. Approved denim cup concept with cream cowboy and coffee-pot artwork. R5.20 is an unchanged benchmark allowance, not a quote for this design. Artwork requires production preparation and a physical print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https://www.papercupsa.co.za/product-category/customized-cups/</a:t>
            </a:r>
          </a:p>
          <a:p xmlns:a="http://schemas.openxmlformats.org/drawingml/2006/main">
            <a:r>
              <a:t>https://www.tevaint.co.za/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Retail prices includeVAT. Espresso28 Americano35; alternative milk surcharge10. Plato June2026 menu, size comparability not exact. Matcha and pastry procurement targets unquoted. Initial range excludes kitchen, sandwiches and delivery platforms.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https://plato.coffee/pages/our-menu</a:t>
            </a:r>
          </a:p>
          <a:p xmlns:a="http://schemas.openxmlformats.org/drawingml/2006/main">
            <a:r>
              <a:t>https://www.matchamove.com/pages/wholesale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Linked to Menu economics D22:D28. GP includes packaging and waste, excludes staff and card fees. 5% beverage and12% pastry waste. Higher pastry attachment raises absolute contribution but dilutesGPmargin. Rounded rows may differ byR0.01.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https://capecoffeebeans.co.za/collections/wholesale-coffee-beans</a:t>
            </a:r>
          </a:p>
          <a:p xmlns:a="http://schemas.openxmlformats.org/drawingml/2006/main">
            <a:r>
              <a:t>https://www.papercupsa.co.za/product-category/customized-cups/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Lead11,500 secondbarista9,000 allrounder8,000. Total34,460.50/month. 7–17 daily;40paid hours average each; actual roster must meet rest and break requirements. Wage benchmark30.23/hr effectiveMarch2026;2027 and bargaining council terms pending. Higher sales may need more cover.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https://www.labour.gov.za/Media-Desk/Media-Statements/Pages/Minister-of-Employment-and-Labour%2C-Meth-increases-the-statutory-National-Minimum-Wage-to-R30%2C23-per-hour.aspx</a:t>
            </a:r>
          </a:p>
          <a:p xmlns:a="http://schemas.openxmlformats.org/drawingml/2006/main">
            <a:r>
              <a:t>https://www.westerncape.gov.za/basic-conditions-employment-act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Gross cash amounts includeVATwhere applicable. Base capital638,035+95,705contingency=733,740. Training12k legal25k preopenpayroll/launch20k rent46k. Low/high varycapital only; not probabilistic confidence intervals. Potential106,297VATrefund assumed month3, not deducted from initial funding.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https://www.bunacoffee.co.za/pages/rent-to-own-commercial-coffee-machine-bundles</a:t>
            </a:r>
          </a:p>
          <a:p xmlns:a="http://schemas.openxmlformats.org/drawingml/2006/main">
            <a:r>
              <a:t>https://www.theneighborhoodbarista.com/services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 snapshot produced by sequentially recalculating the same live Excel selector. Year1 average realized transactions is lower than mature input because of launchramp. Conservative/Expected/Optimistic pastry attachment18/25/32%, growth2/6/10%. No empirical turnover benchmark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Overview22/25: netturnover2033969/2481871/2754166 EBITDA240903/436189/531277. Growth assumes6%volume5%price with5%cost8%rent. Firstpositive monthlyEBITDAMarch2027 (month3) underJanplaceholder. No guarantee of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60monthloanillustration,69fee/person/month,creditlife4.50per1000openingbalance/month allowance,1207.50initiation/person,2monthpreopeninginterestcarry. Peakcashcontribution includespreopenandoperatingshortfalls, excludespersonaltax. Bankcap350k/personmeans fullborrowing not established. Founderloans notequity; noassumption companycashafterrepayment belongs tofounders.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https://www.absa.co.za/personal/loans/for-myself/personal-loan/</a:t>
            </a:r>
          </a:p>
          <a:p xmlns:a="http://schemas.openxmlformats.org/drawingml/2006/main">
            <a:r>
              <a:t>https://www.sars.gov.za/legal-pub-irt-03-interest-rates-table-3/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Exactconservativeextra264550.88;peak725593.18each. Extra equity row is an UNFUNDED requirement and could changeownership/taxeligibility. No downside bailout facility assumed. Optimistic capacity and staffing need validation, not simply a fixedcost extrapolation.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Mandatory shareholder rights/director removal/protections cannot be contracted away indiscriminately. ReviewMOI transferrestrictions rightoffirstoffer valuation buybackfunding and beneficialownership. Companycannotbuyallsharesandleavenoneissued;replacementissuance sequencing requirescounsel. STT CGT dividendanddonations possible. Expectednetturnoverexceeds2.3m inyear2;optimisticyear1. TTcanpaytaxwhilelossmaking. BPR340notgeneralclearance.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https://www.sars.gov.za/tax-rates/turnover-tax/</a:t>
            </a:r>
          </a:p>
          <a:p xmlns:a="http://schemas.openxmlformats.org/drawingml/2006/main">
            <a:r>
              <a:t>https://www.sars.gov.za/types-of-tax/turnover-tax/quick-test-for-individuals-and-companies/</a:t>
            </a:r>
          </a:p>
          <a:p xmlns:a="http://schemas.openxmlformats.org/drawingml/2006/main">
            <a:r>
              <a:t>https://www.saflii.org/za/legis/consol_act/ca2008107/index.html</a:t>
            </a:r>
          </a:p>
          <a:p xmlns:a="http://schemas.openxmlformats.org/drawingml/2006/main">
            <a:r>
              <a:t>https://www.cipc.co.za/?page_id=16055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130/day is base underwriting target, not statistical cut-off. Proposed 4week validation followed by8–12week site/fitout window subjecttoapprovals. Rentbase20kexVAT pluscharges2k; sensitivity16–26k. Donotsignunconditionalleasependinggates.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>https://www.ahproperty.co.za/results/retail/to-let/stellenbosch/stellenbosch-central/retail/250371/</a:t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Investmentrecommendation: conditionaldevelopment, notunconditionalgo. SupportingWordbusinessplancontains detailedoperatingandlegalbrief;Excelcontainsthelive36monthforecastandinputregister. Deckfiguresremainissued7September2026snapshot.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7 September 2026: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Financial figures: issued Excel model, Expected case unless stated. Forward estimates, not actual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2db9e1bd44c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f40faf1304ad5" /><Relationship Type="http://schemas.openxmlformats.org/officeDocument/2006/relationships/slideLayout" Target="/ppt/slideLayouts/slideLayout1.xml" Id="R62b2631198c247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b2631198c247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63106b1044b12" /><Relationship Type="http://schemas.openxmlformats.org/officeDocument/2006/relationships/image" Target="/ppt/media/image.png" Id="R1c1fe8b2d5404706" /><Relationship Type="http://schemas.openxmlformats.org/officeDocument/2006/relationships/notesSlide" Target="/ppt/notesSlides/notesSlide1.xml" Id="Rfc75167272ac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d86abcc7444a7" /><Relationship Type="http://schemas.openxmlformats.org/officeDocument/2006/relationships/notesSlide" Target="/ppt/notesSlides/notesSlide2.xml" Id="Re90faf178dca42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65556a12d4483" /><Relationship Type="http://schemas.openxmlformats.org/officeDocument/2006/relationships/notesSlide" Target="/ppt/notesSlides/notesSlide3.xml" Id="Red5042b9f0a04a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8da2b079c4372" /><Relationship Type="http://schemas.openxmlformats.org/officeDocument/2006/relationships/image" Target="/ppt/media/image2.png" Id="R263d475446da4d6c" /><Relationship Type="http://schemas.openxmlformats.org/officeDocument/2006/relationships/notesSlide" Target="/ppt/notesSlides/notesSlide4.xml" Id="Rad1500d17c9b41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9bf0b33364096" /><Relationship Type="http://schemas.openxmlformats.org/officeDocument/2006/relationships/image" Target="/ppt/media/image3.png" Id="Rb189c599c3db41da" /><Relationship Type="http://schemas.openxmlformats.org/officeDocument/2006/relationships/notesSlide" Target="/ppt/notesSlides/notesSlide5.xml" Id="Rf6b1e771edc64c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32bcbb46f4fbc" /><Relationship Type="http://schemas.openxmlformats.org/officeDocument/2006/relationships/notesSlide" Target="/ppt/notesSlides/notesSlide6.xml" Id="R01b051e3b96c4a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41b75cce9432e" /><Relationship Type="http://schemas.openxmlformats.org/officeDocument/2006/relationships/notesSlide" Target="/ppt/notesSlides/notesSlide7.xml" Id="Rb8ea6c7ea39b4d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82b63361a4fd4" /><Relationship Type="http://schemas.openxmlformats.org/officeDocument/2006/relationships/notesSlide" Target="/ppt/notesSlides/notesSlide8.xml" Id="R6683f779097a44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7a14b410a4325" /><Relationship Type="http://schemas.openxmlformats.org/officeDocument/2006/relationships/notesSlide" Target="/ppt/notesSlides/notesSlide9.xml" Id="R6e70209e316947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057d3dc7246ba" /><Relationship Type="http://schemas.openxmlformats.org/officeDocument/2006/relationships/notesSlide" Target="/ppt/notesSlides/notesSlide10.xml" Id="Re0ff83100fbc49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f20e635eb46ec" /><Relationship Type="http://schemas.openxmlformats.org/officeDocument/2006/relationships/chart" Target="/ppt/slides/charts/chart1.xml" Id="Ra9fcbb86f26641c9" /><Relationship Type="http://schemas.openxmlformats.org/officeDocument/2006/relationships/notesSlide" Target="/ppt/notesSlides/notesSlide11.xml" Id="Rb8564961c0044d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ed8e7adb64270" /><Relationship Type="http://schemas.openxmlformats.org/officeDocument/2006/relationships/notesSlide" Target="/ppt/notesSlides/notesSlide12.xml" Id="Rc1b1eaa9efd24a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a83e67fbe4bba" /><Relationship Type="http://schemas.openxmlformats.org/officeDocument/2006/relationships/notesSlide" Target="/ppt/notesSlides/notesSlide13.xml" Id="Rd7087e5bb5864a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d6e90012a46f4" /><Relationship Type="http://schemas.openxmlformats.org/officeDocument/2006/relationships/notesSlide" Target="/ppt/notesSlides/notesSlide14.xml" Id="R9a2551bcaf8942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78c70d57b483b" /><Relationship Type="http://schemas.openxmlformats.org/officeDocument/2006/relationships/notesSlide" Target="/ppt/notesSlides/notesSlide15.xml" Id="Re8169c5fc1d04a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bfbdd945c4a5e" /><Relationship Type="http://schemas.openxmlformats.org/officeDocument/2006/relationships/notesSlide" Target="/ppt/notesSlides/notesSlide16.xml" Id="Rd34e1788a96948d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Net turnover</c:v>
          </c:tx>
          <c:spPr>
            <a:solidFill xmlns:a="http://schemas.openxmlformats.org/drawingml/2006/main">
              <a:srgbClr val="775642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9251F"/>
                        </a:solidFill>
                        <a:latin typeface="Arial"/>
                        <a:ea typeface="Arial"/>
                        <a:cs typeface="Arial"/>
                      </a:rPr>
                      <a:t>2 034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9251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9251F"/>
                        </a:solidFill>
                        <a:latin typeface="Arial"/>
                        <a:ea typeface="Arial"/>
                        <a:cs typeface="Arial"/>
                      </a:rPr>
                      <a:t>2 482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9251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9251F"/>
                        </a:solidFill>
                        <a:latin typeface="Arial"/>
                        <a:ea typeface="Arial"/>
                        <a:cs typeface="Arial"/>
                      </a:rPr>
                      <a:t>2 754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9251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2034</c:v>
                </c:pt>
                <c:pt idx="1">
                  <c:v>2482</c:v>
                </c:pt>
                <c:pt idx="2">
                  <c:v>2754</c:v>
                </c:pt>
              </c:numCache>
            </c:numRef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rgbClr val="78816E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9251F"/>
                        </a:solidFill>
                        <a:latin typeface="Arial"/>
                        <a:ea typeface="Arial"/>
                        <a:cs typeface="Arial"/>
                      </a:rPr>
                      <a:t>241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9251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9251F"/>
                        </a:solidFill>
                        <a:latin typeface="Arial"/>
                        <a:ea typeface="Arial"/>
                        <a:cs typeface="Arial"/>
                      </a:rPr>
                      <a:t>436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9251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9251F"/>
                        </a:solidFill>
                        <a:latin typeface="Arial"/>
                        <a:ea typeface="Arial"/>
                        <a:cs typeface="Arial"/>
                      </a:rPr>
                      <a:t>531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9251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241</c:v>
                </c:pt>
                <c:pt idx="1">
                  <c:v>436</c:v>
                </c:pt>
                <c:pt idx="2">
                  <c:v>531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9251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9251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fe8b2d5404706"/>
          <a:stretch xmlns:a="http://schemas.openxmlformats.org/drawingml/2006/main"/>
        </p:blipFill>
        <p:spPr>
          <a:xfrm xmlns:a="http://schemas.openxmlformats.org/drawingml/2006/main">
            <a:off x="6299986" y="619125"/>
            <a:ext cx="4497403" cy="5619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F18E4-1865-4468-93C3-9AE7064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4619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5550" b="1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COWBOY</a:t>
            </a:r>
          </a:p>
          <a:p xmlns:a="http://schemas.openxmlformats.org/drawingml/2006/main">
            <a:pPr>
              <a:defRPr sz="5550" b="1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5550" b="1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CAFE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88E30-8041-454A-9128-FDC2D65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Good coffee.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A place to stay awhile.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852EA-6E56-4C68-8813-8EDFCE49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STELLENBOSCH · PROPOSED 2027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33C78-40D3-409D-8B6D-F83F2F4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Investment concept | 7 September 2026</a:t>
            </a:r>
          </a:p>
          <a:p xmlns:a="http://schemas.openxmlformats.org/drawingml/2006/main">
            <a:pPr>
              <a:defRPr sz="10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Design visualisation; site not yet secured</a:t>
            </a:r>
          </a:p>
        </p:txBody>
      </p:sp>
    </p:spTree>
    <p:extLst>
      <p:ext uri="{BB962C8B-B14F-4D97-AF65-F5344CB8AC3E}">
        <p14:creationId xmlns:p14="http://schemas.microsoft.com/office/powerpoint/2010/main" val="189350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DA0EB-B703-49B3-8ACA-AD8287AA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01 / INVESTMENT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4EEFB-1A7B-4A4A-B5D4-0F6EE73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A distinctive café. A demanding funding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0B005-17B6-4F9E-AB89-060C6EB8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The expected case supports operations. It does not yet establish financeability.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A1C10-6570-412D-8EEE-9FE8F3D4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4BBB1-7E5B-4EEA-ABC1-A265B3BE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60BC5-60F8-429E-9576-855339BA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R1.09m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FCB22-7BCE-4334-94BA-1024082F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Initial company funding, including VAT, fit-out and R200k opening cash.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824EB-FAFE-4F75-A747-F44A1EEC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94 /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5C798-1C25-4BD3-8308-BA253DD7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Whole transactions needed for operating break-even at the proposed menu mix.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631CC-A8D9-434C-A9DA-56AB0121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R196k 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65105-1817-47E4-A550-4DD74426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Gap above the R350k personal-loan benchmark, before affordability checks.</a:t>
            </a:r>
          </a:p>
        </p:txBody>
      </p:sp>
    </p:spTree>
    <p:extLst>
      <p:ext uri="{BB962C8B-B14F-4D97-AF65-F5344CB8AC3E}">
        <p14:creationId xmlns:p14="http://schemas.microsoft.com/office/powerpoint/2010/main" val="1469525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78688-C73C-47A9-9C1F-B9A6472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02 /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F411C-B3C4-4969-9BC3-171C0E9A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An everyday ritual with a memorable identity.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621E4-F547-4EF7-8CB8-14BC2D17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Premium to franchise coffee; approachable enough for repeat student and working-day visits.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94C2B-A387-4FE0-B501-50CBCA7A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6F29A-CAD7-4BE3-915A-B83A75EA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60C86-2FC8-43CE-9EC3-03D1D5DC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The 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C6A43-2354-4EA7-90C0-A0567EE5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Students and young professionals first. Gym visitors provide an additional route to repeat visits.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D23E9-DDA9-4F4B-AA9D-229468C1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The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2166A-FD7A-4467-8C06-A4A759C4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Fast counter ordering, thoughtful drinks and a compact, comfortable place to work or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23868-28D5-4736-93BB-B3895A67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The distinction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BCCC6-4417-420F-8631-6F61B05A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Indigo denim cups, cream cowboy artwork and a warm modern Western material palette.</a:t>
            </a:r>
          </a:p>
        </p:txBody>
      </p:sp>
    </p:spTree>
    <p:extLst>
      <p:ext uri="{BB962C8B-B14F-4D97-AF65-F5344CB8AC3E}">
        <p14:creationId xmlns:p14="http://schemas.microsoft.com/office/powerpoint/2010/main" val="569886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44CF4-64A0-47BB-993A-8012FC56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03 / THE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0BCC0-721B-410D-9C4F-2CD52F5B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A small footprint, fully considered from day 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0D425-7C0B-4B7A-8C90-F08448E5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F6AFA-16AC-4F07-8006-4C8234E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d475446da4d6c"/>
          <a:srcRect xmlns:a="http://schemas.openxmlformats.org/drawingml/2006/main" l="8002" t="0" r="80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162175"/>
            <a:ext cx="5657850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55B5D-3921-4FB8-8E8B-8FB9005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50 m² planning footprint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BEE66-AE99-43B0-ABE8-9BC0B8D8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46672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14 seats · 80% takeaway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Street-facing entrance and visible counter. Small tables, leather seating, concrete finishes and warm wood.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Shared gym bathrooms depend on written access and health approval.</a:t>
            </a:r>
          </a:p>
        </p:txBody>
      </p:sp>
    </p:spTree>
    <p:extLst>
      <p:ext uri="{BB962C8B-B14F-4D97-AF65-F5344CB8AC3E}">
        <p14:creationId xmlns:p14="http://schemas.microsoft.com/office/powerpoint/2010/main" val="1575910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41BA1-4B5C-49DB-9988-D311789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04 / BRAND IN THE STREET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83614-73BF-49D2-8C81-232E55AB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The takeaway cup carries the brand.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9CE6C-2A55-4D1F-B5AB-C1C027F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1D833-1629-4319-938C-407AD964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9c599c3db41da"/>
          <a:stretch xmlns:a="http://schemas.openxmlformats.org/drawingml/2006/main"/>
        </p:blipFill>
        <p:spPr>
          <a:xfrm xmlns:a="http://schemas.openxmlformats.org/drawingml/2006/main">
            <a:off x="637591" y="2095500"/>
            <a:ext cx="3277769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A697F-882E-4DC9-85F1-CC08E7DC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2412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Indigo denim.</a:t>
            </a:r>
          </a:p>
          <a:p xmlns:a="http://schemas.openxmlformats.org/drawingml/2006/main">
            <a:pPr>
              <a:defRPr sz="225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Cream cowboy artwork.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86D77-8A6A-4885-9E39-1BBD90BA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295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A softened woven print gives the cup texture while keeping the illustration prominent.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BEBD6-4077-4DD1-AFD3-662DEBF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33650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R5.20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F714C-9846-4749-8FCE-828E7434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670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Hot cup + lid allowance</a:t>
            </a:r>
          </a:p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including VAT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8A266-362A-45B2-ABFA-F108D5B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3295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At 80% takeaway, packaging is a recurring product cost. Obtain a quote for the denim print, minimum order and lead time.</a:t>
            </a:r>
          </a:p>
        </p:txBody>
      </p:sp>
    </p:spTree>
    <p:extLst>
      <p:ext uri="{BB962C8B-B14F-4D97-AF65-F5344CB8AC3E}">
        <p14:creationId xmlns:p14="http://schemas.microsoft.com/office/powerpoint/2010/main" val="1991183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81A83-5824-4A84-975D-E4C8CB5D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05 / MENU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6F799-1291-46C1-8F64-F819F5D6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A focused opening menu protects execution.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A717C-C299-46D9-9DCA-40052D19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One standard recipe per item; pastries delivered daily and warmed to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6C68E-41C3-4E49-BB37-D83528B6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059A6-2FBE-461E-99EC-55DED23D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771775"/>
          <a:ext xmlns:a="http://schemas.openxmlformats.org/drawingml/2006/main" cx="1095375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2667000"/>
                <a:gridCol w="3190875"/>
              </a:tblGrid>
              <a:tr h="4556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item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Cowboy price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Plato reference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Cappuccino / latte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R42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R39 small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Flat white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R44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R42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Iced latte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R50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R48 medium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Matcha / iced matcha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R55 / R60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R56 / R56 medium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Delivered pastry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R40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Quote and taste-test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0438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6D7ED-9B42-48C9-9BC5-BF872135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06 / UNIT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A043A-FA78-4CD3-9DC7-0EC311B7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R53.93 at the till yields R25.89 contribution.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0D9F0-0ADB-4451-BD48-1CC1322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Expected mix: one drink per transaction, with one pastry on 25% of orders.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32DA2-5602-44C1-ACFD-FC549BE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F236F-13ED-4809-9E9B-D3D8E03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95375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905750"/>
                <a:gridCol w="3048000"/>
              </a:tblGrid>
              <a:tr h="45175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 average transaction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Rand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Till receipt, including VAT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53.93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Net revenue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46.90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Ingredients, packaging and wastage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(19.82)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Gross profit · 57.7%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27.07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Card fees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(1.18)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Contribution to fixed costs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25.89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483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7CFDB-DB4F-4C5C-B166-0BAEE1B7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07 /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743C4-73BE-4A5E-B911-7E1293F5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Three employees can work—with deliberate cover.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C114C-C5C6-4DF4-94CF-AE85CB4D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Founders manage the business; the base case does not rely on their routine barista shifts.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E5E1D-B4B4-41E6-9D20-675877F1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201B5-1D1E-4DF0-95A7-80A994E0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4185C-95F9-420B-BB8A-6A77DD7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R34.5k /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9204E-7531-470D-8E59-511F541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Payroll with Sunday and holiday premiums, relief, employer UIF and provisional benefits.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EC610-7FB5-4C50-9BE8-5D5984E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120 staff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BF55D-05B9-478B-B906-11DAB657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Weekly planning capacity versus 70 trading hours and 7 opening/closing hours.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69CED-6ED2-4FB2-A2D1-7D0EF5F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43 overlap hours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9C0C6-D38F-46BE-A92F-175B47C5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For peaks and breaks. Quiet periods require one-person operation; relief still needs booking.</a:t>
            </a:r>
          </a:p>
        </p:txBody>
      </p:sp>
    </p:spTree>
    <p:extLst>
      <p:ext uri="{BB962C8B-B14F-4D97-AF65-F5344CB8AC3E}">
        <p14:creationId xmlns:p14="http://schemas.microsoft.com/office/powerpoint/2010/main" val="1769726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3BD4F-0DC8-4847-9D98-9BCE3E9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08 /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D8404-4AA3-4A9B-82EE-63FA3A2B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Build the whole experience. Price the shell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A01C2-82CB-4098-9096-AE93B298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Company funding envelope: R864k low · R1.092m base · R1.461m high.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48FFE-D64B-4D79-8994-62881256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40BAF-2871-4BC2-A403-1111CCD0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95375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905750"/>
                <a:gridCol w="3048000"/>
              </a:tblGrid>
              <a:tr h="45311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of funds · base case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R000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</a:tr>
              <a:tr h="4531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Capital expenditure incl. 15% contingency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734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531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Pre-opening expenses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531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Refundable lease deposit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531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Initial inventory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531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Opening cash reserve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531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Total initial funding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1,092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4117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C8C19-E7C5-4EAE-8024-ED4152F3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09 / DEMAND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38AEA-6801-4F5C-97BC-CD4E623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Volume makes the difference.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7296C-41BD-4A11-8C32-0D7B7E16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These are decision scenarios, not observed turnover at nearby cafés.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1BA41-CC0E-4459-B125-5F9C67F3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52D7C-BB64-4F6F-943F-856904F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5375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190750"/>
                <a:gridCol w="2190750"/>
                <a:gridCol w="2190750"/>
              </a:tblGrid>
              <a:tr h="479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 · R000 unless stated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Conservative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Optimistic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Mature transactions / day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130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Net turnover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1,140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2,034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3,083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Gross profit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672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1,174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1,746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Operating expenses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911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933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960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EBITDA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(239)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241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787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92AFF-5F71-4950-9C57-4BEB5648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No owner salaries. VAT registered. Ordinary company tax baseline. Ramp and seasonal factors included.</a:t>
            </a:r>
          </a:p>
        </p:txBody>
      </p:sp>
    </p:spTree>
    <p:extLst>
      <p:ext uri="{BB962C8B-B14F-4D97-AF65-F5344CB8AC3E}">
        <p14:creationId xmlns:p14="http://schemas.microsoft.com/office/powerpoint/2010/main" val="3702945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D00E6-EBC1-4A7C-8A58-502884ED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10 / PROFIT TRAJECTORY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B9E89-03DC-4A12-9F4B-8B2E5E10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The expected case grows into its cost 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13250-2A53-4E73-B640-29F5A20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Net turnover and EBITDA over the first three planning years, R000.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EA524-2578-45FF-A04F-AB1FFAB6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FAF68-F617-408F-8AC8-772471F2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896600" cy="3057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fcbb86f26641c9"/>
          </a:graphicData>
        </a:graphic>
      </p:graphicFrame>
    </p:spTree>
    <p:extLst>
      <p:ext uri="{BB962C8B-B14F-4D97-AF65-F5344CB8AC3E}">
        <p14:creationId xmlns:p14="http://schemas.microsoft.com/office/powerpoint/2010/main" val="15137311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E29FE-2E9E-49ED-BBE2-53830ADB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11 / FINANCING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BC867-8DC3-471D-93FB-1C931AC6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Company profit is not personal debt-service cash.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A54B4-6CAC-470B-9A58-E9771F6C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Personal borrowing at 18%; company lending at 8%. The founders fund the spread.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B46C3-76F1-4DEF-9E60-680E1048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D2843-3B38-43BA-BAEA-1375769D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790825"/>
          <a:ext xmlns:a="http://schemas.openxmlformats.org/drawingml/2006/main" cx="10953750" cy="2657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48625"/>
                <a:gridCol w="2905125"/>
              </a:tblGrid>
              <a:tr h="4429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case · each founder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Amount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Initial advance to the company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R545,820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Opening bank payment incl. estimated fees / cover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R16,385 / month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Peak cumulative outside cash contribution, 36 months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R101,146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Company loan still receivable at month 36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R110,900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Personal bank debt still outstanding at month 36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R277,626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492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A7FA5-53F5-471A-8FDC-784BF11D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12 / DOWNSIDE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D676E-C8AA-45B9-8E84-E6020679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At 80 transactions a day, the model needs rescue cash.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A36C8-0CF1-4B16-9B54-E2E627F0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74057-E5AD-44B7-8FBC-8F423F5F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55F19-AB59-405D-9985-2A7E2630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R239k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CA003-7AED-4541-A2BC-2B2A7DC3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Year 1 EBITDA before depreciation, interest and tax in the conservative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D3B38-E51E-4C5A-9A93-D3F8674D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R265k extra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E9630-8DAC-4A42-8625-B83CE8A5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Company funding needed over 36 months, beyond the initial R200k cash reserve.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68927-E6A2-41D2-8B23-88CDC9BC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R726k 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3A47C-25AC-4D1A-B58B-23F24658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Peak outside cash need over 36 months, including personal servicing and half the extra funding.</a:t>
            </a:r>
          </a:p>
        </p:txBody>
      </p:sp>
    </p:spTree>
    <p:extLst>
      <p:ext uri="{BB962C8B-B14F-4D97-AF65-F5344CB8AC3E}">
        <p14:creationId xmlns:p14="http://schemas.microsoft.com/office/powerpoint/2010/main" val="23752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C1884-997D-4DAA-A79F-D7186D4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13 / OWNERSHIP &amp; TAX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0255A-9463-461F-B5CC-D60179DB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Keep the investment case independent of tax approval.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1CBBE-8348-4E1D-9899-A610B317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Inge’s sole shareholding and a nominal buyback are proposed, not cleared.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96C60-BC5E-4A49-A145-C51AE14E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2C1FC-12BB-4B88-970E-A6493E34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C80E9-16D8-4886-B2CB-A2BC8A4D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1C4F4-27C9-4601-A207-7655416A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Board-led operations and distributions, subject to the Companies Act and a properly drafted MOI.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22752-D039-4FF1-8CE7-67501E0C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Economic rights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CB615-31CC-4305-B171-45721923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A nominal buyback cannot simply be assumed to remove Inge’s rights or create a tax-neutral exit.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E556F-E760-49FF-A51C-F0D28621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Model treatment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25F3E-7465-42D9-B125-89D6D6C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32575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Ordinary company tax is the default. Turnover tax is a conditional selector pending written advice.</a:t>
            </a:r>
          </a:p>
        </p:txBody>
      </p:sp>
    </p:spTree>
    <p:extLst>
      <p:ext uri="{BB962C8B-B14F-4D97-AF65-F5344CB8AC3E}">
        <p14:creationId xmlns:p14="http://schemas.microsoft.com/office/powerpoint/2010/main" val="12515843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F3F43-8E90-4326-AFCF-371CBC30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14 / PRE-LEASE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A566A-510C-4A10-B24F-550549AD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Four gates before capital is committed.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CFEAC-E58C-43A8-83B8-709784E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C7AE9-FECC-40F8-8A71-431BB694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905125"/>
          <a:ext xmlns:a="http://schemas.openxmlformats.org/drawingml/2006/main" cx="1095375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6572250"/>
                <a:gridCol w="1714500"/>
              </a:tblGrid>
              <a:tr h="4914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required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29251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Demand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7-day counts + paid pop-up support 130/day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Willem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Site and costs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Written access, approvals, fixed fit-out quotes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Willem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Funding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Approved facilities + personal cash runway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Marius</a:t>
                      </a:r>
                    </a:p>
                  </a:txBody>
                  <a:tcPr marL="91440" marR="91440" marT="45720" marB="45720">
                    <a:solidFill>
                      <a:srgbClr val="F3EFE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Legal and tax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Written opinion on ownership, loans and exit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9251F"/>
                          </a:solidFill>
                          <a:latin typeface="Arial"/>
                          <a:ea typeface="Arial"/>
                          <a:cs typeface="Arial"/>
                        </a:rPr>
                        <a:t>Marius + advisers</a:t>
                      </a:r>
                    </a:p>
                  </a:txBody>
                  <a:tcPr marL="91440" marR="91440" marT="45720" marB="45720">
                    <a:solidFill>
                      <a:srgbClr val="EAE3D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8624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07C22-A878-4262-8E9F-7CB0FB0C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5642"/>
                </a:solidFill>
                <a:latin typeface="Arial"/>
                <a:ea typeface="Arial"/>
                <a:cs typeface="Arial"/>
              </a:rPr>
              <a:t>COWBOY CAFE  /  15 / THE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889DB-29E5-46B7-AA6D-9CE3F5DF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Develop the concept.</a:t>
            </a:r>
          </a:p>
          <a:p xmlns:a="http://schemas.openxmlformats.org/drawingml/2006/main">
            <a:pPr>
              <a:defRPr sz="3450" b="0">
                <a:solidFill>
                  <a:srgbClr val="29251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9251F"/>
                </a:solidFill>
                <a:latin typeface="Georgia"/>
                <a:ea typeface="Georgia"/>
                <a:cs typeface="Georgia"/>
              </a:rPr>
              <a:t>Validate the address. Secure the funding.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C2458-9DEF-45F5-B4F3-247F171A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STELLENBOSCH  ·  INVESTMENT DECISION  ·  07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8B71D-E347-43B2-85CB-8EA669B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56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7564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BEEEA-4E62-4A08-A68E-FF62A46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Proceed to measured site diligence and supplier quotations.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Commit to opening only when the demand case and personal funding plan survive the downside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128F9-6319-4492-85C6-826704B0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00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75642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775642"/>
                </a:solidFill>
                <a:latin typeface="Georgia"/>
                <a:ea typeface="Georgia"/>
                <a:cs typeface="Georgia"/>
              </a:rPr>
              <a:t>COWBOY CAFE</a:t>
            </a:r>
          </a:p>
        </p:txBody>
      </p:sp>
    </p:spTree>
    <p:extLst>
      <p:ext uri="{BB962C8B-B14F-4D97-AF65-F5344CB8AC3E}">
        <p14:creationId xmlns:p14="http://schemas.microsoft.com/office/powerpoint/2010/main" val="654990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2026-09-07T22:03:24.5110000Z</dcterms:created>
  <dcterms:modified xsi:type="dcterms:W3CDTF">2026-09-07T22:03:24.5110000Z</dcterms:modified>
</coreProperties>
</file>